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6F22A-4993-89AE-9D1B-7949E42FFB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69C44-0E8F-EA91-5BC2-4249B6C07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C165A-5D07-F539-2123-CBBF21564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210FA-6C30-486C-AC34-AADFACCBCCBC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F56DD-8A39-1834-1380-F687B23DE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6044F-4BD7-0ACF-C276-A99DA807C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7C21-4CF7-439A-B14C-777A67015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172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E196D-23B6-4C4B-DB3B-E3C8AB210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E6545-F539-CF9E-3A14-FD21028EC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8A8DB-F478-D878-46A0-46D6EE952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210FA-6C30-486C-AC34-AADFACCBCCBC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C8841-F08D-B0CF-6DB9-819EF04B8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1AE40-3DA1-902B-6F21-D3145DBC2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7C21-4CF7-439A-B14C-777A67015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910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FB305-B7B6-D893-C4A1-2A0822A0F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864C7-7D0F-D048-BDD3-499E670F1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AE164-C1F5-61AD-E161-9CC13208E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210FA-6C30-486C-AC34-AADFACCBCCBC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6C642-8A7C-E73C-1A3B-FFE76ABD4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CB239-F6AD-5443-16EA-57745B230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7C21-4CF7-439A-B14C-777A67015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075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CBCD7-D6F4-CE58-951F-1A3FDF1C8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0A8C9-73DE-39A7-C13C-A6E475594A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D58CBA-F281-4F21-7EA4-1D97C5FC6F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CC558D-E342-7EBF-B479-11FFA2E7B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210FA-6C30-486C-AC34-AADFACCBCCBC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1BC1A7-EC42-8913-53E9-17FB2D0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03523-919C-B772-56EE-E2B495C3C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7C21-4CF7-439A-B14C-777A67015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1584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BBC00-1956-F616-B498-CBB7AF7F5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702C89-81F6-A2FF-FF95-13CFB53D1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770814-33CA-945B-B31D-334D69281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AC9D0B-6BA8-4AB4-65B8-21072E975B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234865-DF39-439F-0070-8A9032942B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9ED47B-8FD4-5FD4-5B43-79A8D1F03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210FA-6C30-486C-AC34-AADFACCBCCBC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7DE96D-1412-0A0A-0198-A910CD7AB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5215FA-14D9-EC26-BFFC-BDF6A276F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7C21-4CF7-439A-B14C-777A67015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46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273C0-C3F3-9DFF-C346-DC760B346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AC519D-EF52-4494-5282-C12B3F417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210FA-6C30-486C-AC34-AADFACCBCCBC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E7B164-DCD7-D64A-44F7-869A55963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830805-61B2-BD3E-C261-D3F22494E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7C21-4CF7-439A-B14C-777A67015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5441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A78CE8-8ABA-9F81-20DB-A46C6A990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210FA-6C30-486C-AC34-AADFACCBCCBC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296B8F-6848-B147-995F-A51F26C6A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7ECD72-3EF7-0CFA-1B50-50FE2F956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7C21-4CF7-439A-B14C-777A67015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4094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BBD9B-F3CF-51C0-24C3-02E1040F3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3F5FF-DEDF-1683-CD46-2FF4F1EA3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4B775F-516C-8FE0-8395-C1F106AA0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FE1733-8D2C-E705-1358-62C5D79B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210FA-6C30-486C-AC34-AADFACCBCCBC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03DE3-C6F6-A51C-791E-21B86DB86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263E6-19EF-056C-4814-0922CF3DE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7C21-4CF7-439A-B14C-777A67015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871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48A17-3504-12A5-FA85-953E2ABF6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A0E911-DCC2-0E40-79DE-01A5744578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0BAC4D-A36B-990F-72F4-EB6155941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A2FA37-75FD-21CE-DFE0-9E0175E29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210FA-6C30-486C-AC34-AADFACCBCCBC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FAAAF-2E90-C1A9-2A92-C9D073265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208E7-C922-2382-9437-EC0B63181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7C21-4CF7-439A-B14C-777A67015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5020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81D8-2468-F920-4D7F-DD3AED6D7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2303EA-DA24-42CB-9E32-AC0F78A6E2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D3289-ADA1-E9B5-1A66-B7B6337CF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210FA-6C30-486C-AC34-AADFACCBCCBC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B9023-5C44-A268-A0A7-14984A6F1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349C5-AD99-84EF-3CE9-870E67608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7C21-4CF7-439A-B14C-777A67015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216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EAF05F-B609-BC42-8C0D-013FAD516C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E6B5F2-C659-92E2-7A75-2B632A547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57AF8-36AC-0DF9-DFFB-7F3F702B9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210FA-6C30-486C-AC34-AADFACCBCCBC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09792-BEB1-9DA2-5017-CD5962B9A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5DAE9-C69B-6478-8142-91BC494EF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B7C21-4CF7-439A-B14C-777A67015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771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2E09CD-7555-2CF4-E373-50018BDA6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21F2A7-0824-1878-1D70-BD47076DE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749A4-F3A6-1C9C-233A-F675B04750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210FA-6C30-486C-AC34-AADFACCBCCBC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9AE33-82ED-161B-F387-2C86485047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049AE-D7B2-2437-6D22-EFB6254A2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B7C21-4CF7-439A-B14C-777A67015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120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3A101-A512-D810-1BC0-86431A08C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5949A-6B53-78E4-264A-5962726AF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6291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To develop a comprehensive credit card weekly dashboard that provides real-time insights into key performance metrics and trends, enabling stakeholders to monitor and analyze credit card operations effectively.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9426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EED71-05F5-0561-3A84-8C1404614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DAX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0F567-3CCC-DC52-E18B-2C5C7F783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 err="1"/>
              <a:t>AgeGroup</a:t>
            </a:r>
            <a:r>
              <a:rPr lang="en-US" sz="1600" dirty="0"/>
              <a:t> = SWITCH( </a:t>
            </a:r>
          </a:p>
          <a:p>
            <a:pPr marL="457200" lvl="1" indent="0">
              <a:buNone/>
            </a:pPr>
            <a:r>
              <a:rPr lang="en-US" sz="1600" dirty="0"/>
              <a:t>TRUE(), </a:t>
            </a:r>
          </a:p>
          <a:p>
            <a:pPr marL="457200" lvl="1" indent="0">
              <a:buNone/>
            </a:pPr>
            <a:r>
              <a:rPr lang="en-US" sz="1600" dirty="0"/>
              <a:t>'public </a:t>
            </a:r>
            <a:r>
              <a:rPr lang="en-US" sz="1600" dirty="0" err="1"/>
              <a:t>cust_detail</a:t>
            </a:r>
            <a:r>
              <a:rPr lang="en-US" sz="1600" dirty="0"/>
              <a:t>'[</a:t>
            </a:r>
            <a:r>
              <a:rPr lang="en-US" sz="1600" dirty="0" err="1"/>
              <a:t>customer_age</a:t>
            </a:r>
            <a:r>
              <a:rPr lang="en-US" sz="1600" dirty="0"/>
              <a:t>] &lt; 30, "20-30", </a:t>
            </a:r>
          </a:p>
          <a:p>
            <a:pPr marL="457200" lvl="1" indent="0">
              <a:buNone/>
            </a:pPr>
            <a:r>
              <a:rPr lang="en-US" sz="1600" dirty="0"/>
              <a:t>'public </a:t>
            </a:r>
            <a:r>
              <a:rPr lang="en-US" sz="1600" dirty="0" err="1"/>
              <a:t>cust_detail</a:t>
            </a:r>
            <a:r>
              <a:rPr lang="en-US" sz="1600" dirty="0"/>
              <a:t>'[</a:t>
            </a:r>
            <a:r>
              <a:rPr lang="en-US" sz="1600" dirty="0" err="1"/>
              <a:t>customer_age</a:t>
            </a:r>
            <a:r>
              <a:rPr lang="en-US" sz="1600" dirty="0"/>
              <a:t>] &gt;= 30 &amp;&amp; 'public </a:t>
            </a:r>
            <a:r>
              <a:rPr lang="en-US" sz="1600" dirty="0" err="1"/>
              <a:t>cust_detail</a:t>
            </a:r>
            <a:r>
              <a:rPr lang="en-US" sz="1600" dirty="0"/>
              <a:t>'[</a:t>
            </a:r>
            <a:r>
              <a:rPr lang="en-US" sz="1600" dirty="0" err="1"/>
              <a:t>customer_age</a:t>
            </a:r>
            <a:r>
              <a:rPr lang="en-US" sz="1600" dirty="0"/>
              <a:t>] &lt; 40, "30-40",</a:t>
            </a:r>
          </a:p>
          <a:p>
            <a:pPr marL="457200" lvl="1" indent="0">
              <a:buNone/>
            </a:pPr>
            <a:r>
              <a:rPr lang="en-US" sz="1600" dirty="0"/>
              <a:t>'public </a:t>
            </a:r>
            <a:r>
              <a:rPr lang="en-US" sz="1600" dirty="0" err="1"/>
              <a:t>cust_detail</a:t>
            </a:r>
            <a:r>
              <a:rPr lang="en-US" sz="1600" dirty="0"/>
              <a:t>'[</a:t>
            </a:r>
            <a:r>
              <a:rPr lang="en-US" sz="1600" dirty="0" err="1"/>
              <a:t>customer_age</a:t>
            </a:r>
            <a:r>
              <a:rPr lang="en-US" sz="1600" dirty="0"/>
              <a:t>] &gt;= 40 &amp;&amp; 'public </a:t>
            </a:r>
            <a:r>
              <a:rPr lang="en-US" sz="1600" dirty="0" err="1"/>
              <a:t>cust_detail</a:t>
            </a:r>
            <a:r>
              <a:rPr lang="en-US" sz="1600" dirty="0"/>
              <a:t>'[</a:t>
            </a:r>
            <a:r>
              <a:rPr lang="en-US" sz="1600" dirty="0" err="1"/>
              <a:t>customer_age</a:t>
            </a:r>
            <a:r>
              <a:rPr lang="en-US" sz="1600" dirty="0"/>
              <a:t>] &lt; 50, "40-50“,</a:t>
            </a:r>
          </a:p>
          <a:p>
            <a:pPr marL="457200" lvl="1" indent="0">
              <a:buNone/>
            </a:pPr>
            <a:r>
              <a:rPr lang="en-US" sz="1600" dirty="0"/>
              <a:t>'public </a:t>
            </a:r>
            <a:r>
              <a:rPr lang="en-US" sz="1600" dirty="0" err="1"/>
              <a:t>cust_detail</a:t>
            </a:r>
            <a:r>
              <a:rPr lang="en-US" sz="1600" dirty="0"/>
              <a:t>'[</a:t>
            </a:r>
            <a:r>
              <a:rPr lang="en-US" sz="1600" dirty="0" err="1"/>
              <a:t>customer_age</a:t>
            </a:r>
            <a:r>
              <a:rPr lang="en-US" sz="1600" dirty="0"/>
              <a:t>] &gt;= 50 &amp;&amp; 'public </a:t>
            </a:r>
            <a:r>
              <a:rPr lang="en-US" sz="1600" dirty="0" err="1"/>
              <a:t>cust_detail</a:t>
            </a:r>
            <a:r>
              <a:rPr lang="en-US" sz="1600" dirty="0"/>
              <a:t>'[</a:t>
            </a:r>
            <a:r>
              <a:rPr lang="en-US" sz="1600" dirty="0" err="1"/>
              <a:t>customer_age</a:t>
            </a:r>
            <a:r>
              <a:rPr lang="en-US" sz="1600" dirty="0"/>
              <a:t>] &lt; 60, "50-60“,</a:t>
            </a:r>
          </a:p>
          <a:p>
            <a:pPr marL="457200" lvl="1" indent="0">
              <a:buNone/>
            </a:pPr>
            <a:r>
              <a:rPr lang="en-US" sz="1600" dirty="0"/>
              <a:t>'public </a:t>
            </a:r>
            <a:r>
              <a:rPr lang="en-US" sz="1600" dirty="0" err="1"/>
              <a:t>cust_detail</a:t>
            </a:r>
            <a:r>
              <a:rPr lang="en-US" sz="1600" dirty="0"/>
              <a:t>'[</a:t>
            </a:r>
            <a:r>
              <a:rPr lang="en-US" sz="1600" dirty="0" err="1"/>
              <a:t>customer_age</a:t>
            </a:r>
            <a:r>
              <a:rPr lang="en-US" sz="1600" dirty="0"/>
              <a:t>] &gt;= 60, "60+", </a:t>
            </a:r>
          </a:p>
          <a:p>
            <a:pPr marL="457200" lvl="1" indent="0">
              <a:buNone/>
            </a:pPr>
            <a:r>
              <a:rPr lang="en-US" sz="1600" dirty="0"/>
              <a:t>"unknown" ) </a:t>
            </a:r>
          </a:p>
          <a:p>
            <a:pPr marL="0" indent="0">
              <a:buNone/>
            </a:pPr>
            <a:r>
              <a:rPr lang="en-US" sz="1600" dirty="0" err="1"/>
              <a:t>IncomeGroup</a:t>
            </a:r>
            <a:r>
              <a:rPr lang="en-US" sz="1600" dirty="0"/>
              <a:t> = SWITCH(</a:t>
            </a:r>
          </a:p>
          <a:p>
            <a:pPr marL="457200" lvl="1" indent="0">
              <a:buNone/>
            </a:pPr>
            <a:r>
              <a:rPr lang="en-US" sz="1600" dirty="0"/>
              <a:t> TRUE(),</a:t>
            </a:r>
          </a:p>
          <a:p>
            <a:pPr marL="457200" lvl="1" indent="0">
              <a:buNone/>
            </a:pPr>
            <a:r>
              <a:rPr lang="en-US" sz="1600" dirty="0"/>
              <a:t> 'public </a:t>
            </a:r>
            <a:r>
              <a:rPr lang="en-US" sz="1600" dirty="0" err="1"/>
              <a:t>cust_detail</a:t>
            </a:r>
            <a:r>
              <a:rPr lang="en-US" sz="1600" dirty="0"/>
              <a:t>'[income] &lt; 35000, "Low",</a:t>
            </a:r>
          </a:p>
          <a:p>
            <a:pPr marL="457200" lvl="1" indent="0">
              <a:buNone/>
            </a:pPr>
            <a:r>
              <a:rPr lang="en-US" sz="1600" dirty="0"/>
              <a:t> 'public </a:t>
            </a:r>
            <a:r>
              <a:rPr lang="en-US" sz="1600" dirty="0" err="1"/>
              <a:t>cust_detail</a:t>
            </a:r>
            <a:r>
              <a:rPr lang="en-US" sz="1600" dirty="0"/>
              <a:t>'[income] &gt;= 35000 &amp;&amp; 'public </a:t>
            </a:r>
            <a:r>
              <a:rPr lang="en-US" sz="1600" dirty="0" err="1"/>
              <a:t>cust_detail</a:t>
            </a:r>
            <a:r>
              <a:rPr lang="en-US" sz="1600" dirty="0"/>
              <a:t>'[income] &lt;70000, "Med",</a:t>
            </a:r>
          </a:p>
          <a:p>
            <a:pPr marL="457200" lvl="1" indent="0">
              <a:buNone/>
            </a:pPr>
            <a:r>
              <a:rPr lang="en-US" sz="1600" dirty="0"/>
              <a:t> 'public </a:t>
            </a:r>
            <a:r>
              <a:rPr lang="en-US" sz="1600" dirty="0" err="1"/>
              <a:t>cust_detail</a:t>
            </a:r>
            <a:r>
              <a:rPr lang="en-US" sz="1600" dirty="0"/>
              <a:t>'[income] &gt;= 70000, "High",</a:t>
            </a:r>
          </a:p>
          <a:p>
            <a:pPr marL="457200" lvl="1" indent="0">
              <a:buNone/>
            </a:pPr>
            <a:r>
              <a:rPr lang="en-US" sz="1600" dirty="0"/>
              <a:t> "unknown")</a:t>
            </a:r>
          </a:p>
        </p:txBody>
      </p:sp>
    </p:spTree>
    <p:extLst>
      <p:ext uri="{BB962C8B-B14F-4D97-AF65-F5344CB8AC3E}">
        <p14:creationId xmlns:p14="http://schemas.microsoft.com/office/powerpoint/2010/main" val="202374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071D9-B46E-F722-BDC1-AB32E9D91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DAX Queries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07007-832E-6DE6-7F29-DB96DF446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dirty="0"/>
              <a:t>week_num2 = WEEKNUM('public </a:t>
            </a:r>
            <a:r>
              <a:rPr lang="en-IN" sz="1600" dirty="0" err="1"/>
              <a:t>cc_detail</a:t>
            </a:r>
            <a:r>
              <a:rPr lang="en-IN" sz="1600" dirty="0"/>
              <a:t>'[</a:t>
            </a:r>
            <a:r>
              <a:rPr lang="en-IN" sz="1600" dirty="0" err="1"/>
              <a:t>week_start_date</a:t>
            </a:r>
            <a:r>
              <a:rPr lang="en-IN" sz="1600" dirty="0"/>
              <a:t>])</a:t>
            </a:r>
          </a:p>
          <a:p>
            <a:pPr marL="0" indent="0">
              <a:buNone/>
            </a:pPr>
            <a:r>
              <a:rPr lang="en-IN" sz="1600" dirty="0"/>
              <a:t>Revenue = 'public </a:t>
            </a:r>
            <a:r>
              <a:rPr lang="en-IN" sz="1600" dirty="0" err="1"/>
              <a:t>cc_detail</a:t>
            </a:r>
            <a:r>
              <a:rPr lang="en-IN" sz="1600" dirty="0"/>
              <a:t>'[</a:t>
            </a:r>
            <a:r>
              <a:rPr lang="en-IN" sz="1600" dirty="0" err="1"/>
              <a:t>annual_fees</a:t>
            </a:r>
            <a:r>
              <a:rPr lang="en-IN" sz="1600" dirty="0"/>
              <a:t>] + 'public </a:t>
            </a:r>
            <a:r>
              <a:rPr lang="en-IN" sz="1600" dirty="0" err="1"/>
              <a:t>cc_detail</a:t>
            </a:r>
            <a:r>
              <a:rPr lang="en-IN" sz="1600" dirty="0"/>
              <a:t>'[</a:t>
            </a:r>
            <a:r>
              <a:rPr lang="en-IN" sz="1600" dirty="0" err="1"/>
              <a:t>total_trans_amt</a:t>
            </a:r>
            <a:r>
              <a:rPr lang="en-IN" sz="1600" dirty="0"/>
              <a:t>] + 'public </a:t>
            </a:r>
            <a:r>
              <a:rPr lang="en-IN" sz="1600" dirty="0" err="1"/>
              <a:t>cc_detail</a:t>
            </a:r>
            <a:r>
              <a:rPr lang="en-IN" sz="1600" dirty="0"/>
              <a:t>'[</a:t>
            </a:r>
            <a:r>
              <a:rPr lang="en-IN" sz="1600" dirty="0" err="1"/>
              <a:t>interest_earned</a:t>
            </a:r>
            <a:r>
              <a:rPr lang="en-IN" sz="1600" dirty="0"/>
              <a:t>]</a:t>
            </a:r>
          </a:p>
          <a:p>
            <a:pPr marL="0" indent="0">
              <a:buNone/>
            </a:pPr>
            <a:r>
              <a:rPr lang="en-IN" sz="1600" dirty="0" err="1"/>
              <a:t>Current_week_Reveneue</a:t>
            </a:r>
            <a:r>
              <a:rPr lang="en-IN" sz="1600" dirty="0"/>
              <a:t> = CALCULATE(</a:t>
            </a:r>
          </a:p>
          <a:p>
            <a:pPr marL="457200" lvl="1" indent="0">
              <a:buNone/>
            </a:pPr>
            <a:r>
              <a:rPr lang="en-IN" sz="1600" dirty="0"/>
              <a:t> SUM('public </a:t>
            </a:r>
            <a:r>
              <a:rPr lang="en-IN" sz="1600" dirty="0" err="1"/>
              <a:t>cc_detail</a:t>
            </a:r>
            <a:r>
              <a:rPr lang="en-IN" sz="1600" dirty="0"/>
              <a:t>'[Revenue]),</a:t>
            </a:r>
          </a:p>
          <a:p>
            <a:pPr marL="457200" lvl="1" indent="0">
              <a:buNone/>
            </a:pPr>
            <a:r>
              <a:rPr lang="en-IN" sz="1600" dirty="0"/>
              <a:t> FILTER(</a:t>
            </a:r>
          </a:p>
          <a:p>
            <a:pPr marL="914400" lvl="2" indent="0">
              <a:buNone/>
            </a:pPr>
            <a:r>
              <a:rPr lang="en-IN" sz="1600" dirty="0"/>
              <a:t> ALL('public </a:t>
            </a:r>
            <a:r>
              <a:rPr lang="en-IN" sz="1600" dirty="0" err="1"/>
              <a:t>cc_detail</a:t>
            </a:r>
            <a:r>
              <a:rPr lang="en-IN" sz="1600" dirty="0"/>
              <a:t>'),</a:t>
            </a:r>
          </a:p>
          <a:p>
            <a:pPr marL="914400" lvl="2" indent="0">
              <a:buNone/>
            </a:pPr>
            <a:r>
              <a:rPr lang="en-IN" sz="1600" dirty="0"/>
              <a:t> 'public </a:t>
            </a:r>
            <a:r>
              <a:rPr lang="en-IN" sz="1600" dirty="0" err="1"/>
              <a:t>cc_detail</a:t>
            </a:r>
            <a:r>
              <a:rPr lang="en-IN" sz="1600" dirty="0"/>
              <a:t>'[week_num2] = MAX('public </a:t>
            </a:r>
            <a:r>
              <a:rPr lang="en-IN" sz="1600" dirty="0" err="1"/>
              <a:t>cc_detail</a:t>
            </a:r>
            <a:r>
              <a:rPr lang="en-IN" sz="1600" dirty="0"/>
              <a:t>'[week_num2])))</a:t>
            </a:r>
          </a:p>
          <a:p>
            <a:pPr marL="0" indent="0">
              <a:buNone/>
            </a:pPr>
            <a:r>
              <a:rPr lang="en-IN" sz="1600" dirty="0" err="1"/>
              <a:t>Previous_week_Reveneue</a:t>
            </a:r>
            <a:r>
              <a:rPr lang="en-IN" sz="1600" dirty="0"/>
              <a:t> = CALCULATE(</a:t>
            </a:r>
          </a:p>
          <a:p>
            <a:pPr marL="457200" lvl="1" indent="0">
              <a:buNone/>
            </a:pPr>
            <a:r>
              <a:rPr lang="en-IN" sz="1600" dirty="0"/>
              <a:t> SUM('public </a:t>
            </a:r>
            <a:r>
              <a:rPr lang="en-IN" sz="1600" dirty="0" err="1"/>
              <a:t>cc_detail</a:t>
            </a:r>
            <a:r>
              <a:rPr lang="en-IN" sz="1600" dirty="0"/>
              <a:t>'[Revenue]),</a:t>
            </a:r>
          </a:p>
          <a:p>
            <a:pPr marL="457200" lvl="1" indent="0">
              <a:buNone/>
            </a:pPr>
            <a:r>
              <a:rPr lang="en-IN" sz="1600" dirty="0"/>
              <a:t> FILTER(</a:t>
            </a:r>
          </a:p>
          <a:p>
            <a:pPr marL="914400" lvl="2" indent="0">
              <a:buNone/>
            </a:pPr>
            <a:r>
              <a:rPr lang="en-IN" sz="1600" dirty="0"/>
              <a:t> ALL('public </a:t>
            </a:r>
            <a:r>
              <a:rPr lang="en-IN" sz="1600" dirty="0" err="1"/>
              <a:t>cc_detail</a:t>
            </a:r>
            <a:r>
              <a:rPr lang="en-IN" sz="1600" dirty="0"/>
              <a:t>'),</a:t>
            </a:r>
          </a:p>
          <a:p>
            <a:pPr marL="914400" lvl="2" indent="0">
              <a:buNone/>
            </a:pPr>
            <a:r>
              <a:rPr lang="en-IN" sz="1600" dirty="0"/>
              <a:t> 'public </a:t>
            </a:r>
            <a:r>
              <a:rPr lang="en-IN" sz="1600" dirty="0" err="1"/>
              <a:t>cc_detail</a:t>
            </a:r>
            <a:r>
              <a:rPr lang="en-IN" sz="1600" dirty="0"/>
              <a:t>'[week_num2] = MAX('public </a:t>
            </a:r>
            <a:r>
              <a:rPr lang="en-IN" sz="1600" dirty="0" err="1"/>
              <a:t>cc_detail</a:t>
            </a:r>
            <a:r>
              <a:rPr lang="en-IN" sz="1600" dirty="0"/>
              <a:t>'[week_num2])-1))</a:t>
            </a:r>
          </a:p>
        </p:txBody>
      </p:sp>
    </p:spTree>
    <p:extLst>
      <p:ext uri="{BB962C8B-B14F-4D97-AF65-F5344CB8AC3E}">
        <p14:creationId xmlns:p14="http://schemas.microsoft.com/office/powerpoint/2010/main" val="2917728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87912-1F9D-D07C-49B2-1E85C84AA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0049"/>
          </a:xfrm>
        </p:spPr>
        <p:txBody>
          <a:bodyPr/>
          <a:lstStyle/>
          <a:p>
            <a:r>
              <a:rPr lang="en-US" dirty="0"/>
              <a:t>Project Insights- Week 53 (31st Dec)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AD644-CC50-8EE0-5B1E-6F3ADC59A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490"/>
            <a:ext cx="10515600" cy="45644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WoW change:</a:t>
            </a:r>
          </a:p>
          <a:p>
            <a:pPr marL="457200" lvl="1" indent="0">
              <a:buNone/>
            </a:pPr>
            <a:r>
              <a:rPr lang="en-US" sz="2000" dirty="0"/>
              <a:t>• Revenue increased by 28.8%,</a:t>
            </a:r>
          </a:p>
          <a:p>
            <a:pPr marL="0" indent="0">
              <a:buNone/>
            </a:pPr>
            <a:r>
              <a:rPr lang="en-US" sz="2400" dirty="0"/>
              <a:t>Overview YTD:</a:t>
            </a:r>
          </a:p>
          <a:p>
            <a:pPr marL="457200" lvl="1" indent="0">
              <a:buNone/>
            </a:pPr>
            <a:r>
              <a:rPr lang="en-US" sz="2000" dirty="0"/>
              <a:t>• Overall revenue is 57M</a:t>
            </a:r>
          </a:p>
          <a:p>
            <a:pPr marL="457200" lvl="1" indent="0">
              <a:buNone/>
            </a:pPr>
            <a:r>
              <a:rPr lang="en-US" sz="2000" dirty="0"/>
              <a:t>• Total interest is 8M</a:t>
            </a:r>
          </a:p>
          <a:p>
            <a:pPr marL="457200" lvl="1" indent="0">
              <a:buNone/>
            </a:pPr>
            <a:r>
              <a:rPr lang="en-US" sz="2000" dirty="0"/>
              <a:t>• Total transaction amount is 46M</a:t>
            </a:r>
          </a:p>
          <a:p>
            <a:pPr marL="457200" lvl="1" indent="0">
              <a:buNone/>
            </a:pPr>
            <a:r>
              <a:rPr lang="en-US" sz="2000" dirty="0"/>
              <a:t>• Male customers are contributing more in revenue 31M, female 26M</a:t>
            </a:r>
          </a:p>
          <a:p>
            <a:pPr marL="457200" lvl="1" indent="0">
              <a:buNone/>
            </a:pPr>
            <a:r>
              <a:rPr lang="en-US" sz="2000" dirty="0"/>
              <a:t>• Blue &amp; Silver credit card are contributing to 93% of overall transactions</a:t>
            </a:r>
          </a:p>
          <a:p>
            <a:pPr marL="457200" lvl="1" indent="0">
              <a:buNone/>
            </a:pPr>
            <a:r>
              <a:rPr lang="en-US" sz="2000" dirty="0"/>
              <a:t>• TX, NY &amp; CA is contributing to 68%</a:t>
            </a:r>
          </a:p>
          <a:p>
            <a:pPr marL="457200" lvl="1" indent="0">
              <a:buNone/>
            </a:pPr>
            <a:r>
              <a:rPr lang="en-US" sz="2000" dirty="0"/>
              <a:t>• Overall Activation rate is 57.5%</a:t>
            </a:r>
          </a:p>
          <a:p>
            <a:pPr marL="457200" lvl="1" indent="0">
              <a:buNone/>
            </a:pPr>
            <a:r>
              <a:rPr lang="en-US" sz="2000" dirty="0"/>
              <a:t>• Overall Delinquent rate is 6.06%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0929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461</Words>
  <Application>Microsoft Office PowerPoint</Application>
  <PresentationFormat>Widescreen</PresentationFormat>
  <Paragraphs>42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Project Objective </vt:lpstr>
      <vt:lpstr>DAX Queries</vt:lpstr>
      <vt:lpstr>DAX Queries </vt:lpstr>
      <vt:lpstr>Project Insights- Week 53 (31st Dec)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 Sharma</dc:creator>
  <cp:lastModifiedBy>Ankit Sharma</cp:lastModifiedBy>
  <cp:revision>1</cp:revision>
  <dcterms:created xsi:type="dcterms:W3CDTF">2025-05-01T14:49:35Z</dcterms:created>
  <dcterms:modified xsi:type="dcterms:W3CDTF">2025-05-01T14:57:11Z</dcterms:modified>
</cp:coreProperties>
</file>